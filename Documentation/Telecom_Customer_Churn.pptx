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822960" cy="73152"/>
          </a:xfrm>
          <a:prstGeom prst="rect">
            <a:avLst/>
          </a:prstGeom>
          <a:solidFill>
            <a:srgbClr val="1FA29A"/>
          </a:solidFill>
          <a:ln w="12700">
            <a:solidFill>
              <a:srgbClr val="1FA2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high-risk customer segments and the factors behind churn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A2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Business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32004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3200400"/>
          </a:xfrm>
          <a:prstGeom prst="rect">
            <a:avLst/>
          </a:prstGeom>
          <a:solidFill>
            <a:srgbClr val="1FA29A"/>
          </a:solidFill>
          <a:ln w="12700">
            <a:solidFill>
              <a:srgbClr val="1FA2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demographics, service usage, contract details, payment behavior, tenure and billing information to identify patterns and factors associated with churn.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2004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73152" cy="32004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69164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discontinue service cost the company revenue. We need to find high-risk segments and understand churn drivers so retention efforts can be targeted rather than broad.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A2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Dimensions Analyzed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15544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1554480"/>
          </a:xfrm>
          <a:prstGeom prst="rect">
            <a:avLst/>
          </a:prstGeom>
          <a:solidFill>
            <a:srgbClr val="1FA29A"/>
          </a:solidFill>
          <a:ln w="12700">
            <a:solidFill>
              <a:srgbClr val="1FA2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 group, senior citizen, partner, dependents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188720"/>
            <a:ext cx="73152" cy="1554480"/>
          </a:xfrm>
          <a:prstGeom prst="rect">
            <a:avLst/>
          </a:prstGeom>
          <a:solidFill>
            <a:srgbClr val="1FA29A"/>
          </a:solidFill>
          <a:ln w="12700">
            <a:solidFill>
              <a:srgbClr val="1FA2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Usage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691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internet type, security, backup, streaming, tech support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560320" cy="15544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188720"/>
            <a:ext cx="73152" cy="1554480"/>
          </a:xfrm>
          <a:prstGeom prst="rect">
            <a:avLst/>
          </a:prstGeom>
          <a:solidFill>
            <a:srgbClr val="1FA29A"/>
          </a:solidFill>
          <a:ln w="12700">
            <a:solidFill>
              <a:srgbClr val="1FA2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Details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691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Month-to-month, one-year, two-year; paperless billing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2560320" cy="15544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26080"/>
            <a:ext cx="73152" cy="1554480"/>
          </a:xfrm>
          <a:prstGeom prst="rect">
            <a:avLst/>
          </a:prstGeom>
          <a:solidFill>
            <a:srgbClr val="1FA29A"/>
          </a:solidFill>
          <a:ln w="12700">
            <a:solidFill>
              <a:srgbClr val="1FA2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4290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method, automatic vs manual payments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560320" cy="15544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2926080"/>
            <a:ext cx="73152" cy="1554480"/>
          </a:xfrm>
          <a:prstGeom prst="rect">
            <a:avLst/>
          </a:prstGeom>
          <a:solidFill>
            <a:srgbClr val="1FA29A"/>
          </a:solidFill>
          <a:ln w="12700">
            <a:solidFill>
              <a:srgbClr val="1FA2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0440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520440" y="34290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 the company, lifecycle stage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560320" cy="15544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926080"/>
            <a:ext cx="73152" cy="1554480"/>
          </a:xfrm>
          <a:prstGeom prst="rect">
            <a:avLst/>
          </a:prstGeom>
          <a:solidFill>
            <a:srgbClr val="1FA29A"/>
          </a:solidFill>
          <a:ln w="12700">
            <a:solidFill>
              <a:srgbClr val="1FA2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4290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charges, total charges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A2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1371600"/>
            <a:ext cx="548640" cy="548640"/>
          </a:xfrm>
          <a:prstGeom prst="ellipse">
            <a:avLst/>
          </a:prstGeom>
          <a:solidFill>
            <a:srgbClr val="1FA2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70048" y="1371600"/>
            <a:ext cx="548640" cy="548640"/>
          </a:xfrm>
          <a:prstGeom prst="ellipse">
            <a:avLst/>
          </a:prstGeom>
          <a:solidFill>
            <a:srgbClr val="1FA2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004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2103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churn rate overall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34256" y="1371600"/>
            <a:ext cx="548640" cy="548640"/>
          </a:xfrm>
          <a:prstGeom prst="ellipse">
            <a:avLst/>
          </a:prstGeom>
          <a:solidFill>
            <a:srgbClr val="1FA2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3425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877056" y="2103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churn by segment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98464" y="1371600"/>
            <a:ext cx="548640" cy="548640"/>
          </a:xfrm>
          <a:prstGeom prst="ellipse">
            <a:avLst/>
          </a:prstGeom>
          <a:solidFill>
            <a:srgbClr val="1FA2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98464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541264" y="2103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drivers &amp; model risk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62672" y="13716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6267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205472" y="2103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actions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measured as the share of customers who left; each factor is compared against it to see where churn concentrates.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A2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Factors to Examine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15087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1508760"/>
          </a:xfrm>
          <a:prstGeom prst="rect">
            <a:avLst/>
          </a:prstGeom>
          <a:solidFill>
            <a:srgbClr val="1FA29A"/>
          </a:solidFill>
          <a:ln w="12700">
            <a:solidFill>
              <a:srgbClr val="1FA2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Tenure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short contracts and new customers leave at higher rates than long-term, established ones?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5087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73152" cy="1508760"/>
          </a:xfrm>
          <a:prstGeom prst="rect">
            <a:avLst/>
          </a:prstGeom>
          <a:solidFill>
            <a:srgbClr val="1FA29A"/>
          </a:solidFill>
          <a:ln w="12700">
            <a:solidFill>
              <a:srgbClr val="1FA2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high monthly charges or manual payment methods linked to higher churn?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931920" cy="15087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80360"/>
            <a:ext cx="73152" cy="1508760"/>
          </a:xfrm>
          <a:prstGeom prst="rect">
            <a:avLst/>
          </a:prstGeom>
          <a:solidFill>
            <a:srgbClr val="1FA29A"/>
          </a:solidFill>
          <a:ln w="12700">
            <a:solidFill>
              <a:srgbClr val="1FA2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Usage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churn differ by internet type or by add-ons such as tech support and security?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3931920" cy="15087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880360"/>
            <a:ext cx="73152" cy="1508760"/>
          </a:xfrm>
          <a:prstGeom prst="rect">
            <a:avLst/>
          </a:prstGeom>
          <a:solidFill>
            <a:srgbClr val="1FA29A"/>
          </a:solidFill>
          <a:ln w="12700">
            <a:solidFill>
              <a:srgbClr val="1FA2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age, family or senior-citizen groups show elevated churn?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A2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High-Risk Segments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are built by combining factors, then ranked by churn rate and customer volume to prioritize action.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lens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× Contract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customers on month-to-month plans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× Payment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charges paid manually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×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users without add-on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or single-household customers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A2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Strategies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31089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3108960"/>
          </a:xfrm>
          <a:prstGeom prst="rect">
            <a:avLst/>
          </a:prstGeom>
          <a:solidFill>
            <a:srgbClr val="1FA29A"/>
          </a:solidFill>
          <a:ln w="12700">
            <a:solidFill>
              <a:srgbClr val="1FA2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Offers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or upgrades for high-risk, high-charge customers.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31089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188720"/>
            <a:ext cx="73152" cy="3108960"/>
          </a:xfrm>
          <a:prstGeom prst="rect">
            <a:avLst/>
          </a:prstGeom>
          <a:solidFill>
            <a:srgbClr val="1FA29A"/>
          </a:solidFill>
          <a:ln w="12700">
            <a:solidFill>
              <a:srgbClr val="1FA2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Migration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69164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to move month-to-month customers to longer plans.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560320" cy="31089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188720"/>
            <a:ext cx="73152" cy="310896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Engagement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69164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and support outreach during the first months of tenure.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2026-10-06T09:45:20Z</dcterms:created>
  <dcterms:modified xsi:type="dcterms:W3CDTF">2026-10-06T09:45:20Z</dcterms:modified>
</cp:coreProperties>
</file>